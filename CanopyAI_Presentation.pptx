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03520"/>
          </a:xfrm>
          <a:prstGeom prst="roundRect">
            <a:avLst/>
          </a:prstGeom>
          <a:solidFill>
            <a:srgbClr val="07472E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CANOPYAI</a:t>
            </a:r>
          </a:p>
          <a:p>
            <a:pPr>
              <a:spcBef>
                <a:spcPts val="1200"/>
              </a:spcBef>
              <a:defRPr sz="2200">
                <a:solidFill>
                  <a:srgbClr val="10B981"/>
                </a:solidFill>
              </a:defRPr>
            </a:pPr>
            <a:r>
              <a:t>Satellite-Based Urban Tree Equity Auditor &amp; AI Plantation Prioritization Engine</a:t>
            </a:r>
          </a:p>
          <a:p>
            <a:pPr>
              <a:spcBef>
                <a:spcPts val="1600"/>
              </a:spcBef>
              <a:defRPr sz="1600">
                <a:solidFill>
                  <a:srgbClr val="C8E1D7"/>
                </a:solidFill>
              </a:defRPr>
            </a:pPr>
            <a:r>
              <a:t>📍 Delhi, India  ·  250 Municipal Wards Analyzed</a:t>
            </a:r>
          </a:p>
          <a:p>
            <a:pPr>
              <a:spcBef>
                <a:spcPts val="4000"/>
              </a:spcBef>
              <a:defRPr sz="1400" b="1">
                <a:solidFill>
                  <a:srgbClr val="FFFFFF"/>
                </a:solidFill>
              </a:defRPr>
            </a:pPr>
            <a:r>
              <a:t>ASEP Group 4  |  VIT Pune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A0C8B4"/>
                </a:solidFill>
                <a:latin typeface="Inter"/>
              </a:defRPr>
            </a:pPr>
            <a:r>
              <a:t>"The question is not whether a city needs more trees. The question is where they will create the most impact."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CB4A0"/>
                </a:solidFill>
                <a:latin typeface="Inter"/>
              </a:defRPr>
            </a:pPr>
            <a: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1C1C"/>
                </a:solidFill>
                <a:latin typeface="Inter"/>
              </a:defRPr>
            </a:pPr>
            <a:r>
              <a:t>URBAN GREEN COVER IS NOT DISTRIBUTED EQUALLY</a:t>
            </a:r>
          </a:p>
          <a:p>
            <a:pPr>
              <a:spcBef>
                <a:spcPts val="400"/>
              </a:spcBef>
              <a:defRPr sz="1400">
                <a:solidFill>
                  <a:srgbClr val="717973"/>
                </a:solidFill>
                <a:latin typeface="Inter"/>
              </a:defRPr>
            </a:pPr>
            <a:r>
              <a:t>Delhi faces a compounding environmental crisis: severe canopy deficit in dense, vulnerable wards.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BA1A1A"/>
                </a:solidFill>
              </a:defRPr>
            </a:pPr>
            <a:r>
              <a:t>8.77%</a:t>
            </a:r>
          </a:p>
          <a:p>
            <a:pPr>
              <a:spcBef>
                <a:spcPts val="1000"/>
              </a:spcBef>
              <a:defRPr sz="1600" b="1">
                <a:solidFill>
                  <a:srgbClr val="1B1C1C"/>
                </a:solidFill>
              </a:defRPr>
            </a:pPr>
            <a:r>
              <a:t>Canopy Cover Detected</a:t>
            </a:r>
          </a:p>
          <a:p>
            <a:pPr>
              <a:spcBef>
                <a:spcPts val="600"/>
              </a:spcBef>
              <a:defRPr sz="1300">
                <a:solidFill>
                  <a:srgbClr val="717973"/>
                </a:solidFill>
              </a:defRPr>
            </a:pPr>
            <a:r>
              <a:t>Critical tree gap in analyzed region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383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8288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48C24"/>
                </a:solidFill>
              </a:defRPr>
            </a:pPr>
            <a:r>
              <a:t>53.26%</a:t>
            </a:r>
          </a:p>
          <a:p>
            <a:pPr>
              <a:spcBef>
                <a:spcPts val="1000"/>
              </a:spcBef>
              <a:defRPr sz="1600" b="1">
                <a:solidFill>
                  <a:srgbClr val="1B1C1C"/>
                </a:solidFill>
              </a:defRPr>
            </a:pPr>
            <a:r>
              <a:t>Bare / Open Surface</a:t>
            </a:r>
          </a:p>
          <a:p>
            <a:pPr>
              <a:spcBef>
                <a:spcPts val="600"/>
              </a:spcBef>
              <a:defRPr sz="1300">
                <a:solidFill>
                  <a:srgbClr val="717973"/>
                </a:solidFill>
              </a:defRPr>
            </a:pPr>
            <a:r>
              <a:t>Unvegetated area ready for intervention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383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8288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717973"/>
                </a:solidFill>
              </a:defRPr>
            </a:pPr>
            <a:r>
              <a:t>21.21%</a:t>
            </a:r>
          </a:p>
          <a:p>
            <a:pPr>
              <a:spcBef>
                <a:spcPts val="1000"/>
              </a:spcBef>
              <a:defRPr sz="1600" b="1">
                <a:solidFill>
                  <a:srgbClr val="1B1C1C"/>
                </a:solidFill>
              </a:defRPr>
            </a:pPr>
            <a:r>
              <a:t>Built-up Urban Surface</a:t>
            </a:r>
          </a:p>
          <a:p>
            <a:pPr>
              <a:spcBef>
                <a:spcPts val="600"/>
              </a:spcBef>
              <a:defRPr sz="1300">
                <a:solidFill>
                  <a:srgbClr val="717973"/>
                </a:solidFill>
              </a:defRPr>
            </a:pPr>
            <a:r>
              <a:t>Concrete &amp; infrastructure heat traps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28655" cy="1097280"/>
          </a:xfrm>
          <a:prstGeom prst="roundRect">
            <a:avLst/>
          </a:prstGeom>
          <a:solidFill>
            <a:srgbClr val="002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💡 KEY INSIGHT: "Knowing HOW MANY TREES A CITY HAS is not enough."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17973"/>
                </a:solidFill>
                <a:latin typeface="Inter"/>
              </a:defRPr>
            </a:pPr>
            <a:r>
              <a:t>"To decide where the next tree should go, city-wide averages are too coarse."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17973"/>
                </a:solidFill>
                <a:latin typeface="Inter"/>
              </a:defRPr>
            </a:pPr>
            <a: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1C1C"/>
                </a:solidFill>
                <a:latin typeface="Inter"/>
              </a:defRPr>
            </a:pPr>
            <a:r>
              <a:t>THE AVERAGE CAN HIDE THE OUTLIER</a:t>
            </a:r>
          </a:p>
          <a:p>
            <a:pPr>
              <a:spcBef>
                <a:spcPts val="400"/>
              </a:spcBef>
              <a:defRPr sz="1400">
                <a:solidFill>
                  <a:srgbClr val="717973"/>
                </a:solidFill>
                <a:latin typeface="Inter"/>
              </a:defRPr>
            </a:pPr>
            <a:r>
              <a:t>Comparing ward-level averaging against pixel-level granularity.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2D1C"/>
                </a:solidFill>
              </a:defRPr>
            </a:pPr>
            <a:r>
              <a:t>🏛️ WARD-LEVEL VIEW</a:t>
            </a:r>
          </a:p>
          <a:p>
            <a:pPr>
              <a:spcBef>
                <a:spcPts val="1400"/>
              </a:spcBef>
              <a:defRPr sz="2200" b="1">
                <a:solidFill>
                  <a:srgbClr val="F48C24"/>
                </a:solidFill>
              </a:defRPr>
            </a:pPr>
            <a:r>
              <a:t>Single Ward Average: 24% Canopy</a:t>
            </a:r>
          </a:p>
          <a:p>
            <a:pPr>
              <a:spcBef>
                <a:spcPts val="1200"/>
              </a:spcBef>
              <a:defRPr sz="1400">
                <a:solidFill>
                  <a:srgbClr val="717973"/>
                </a:solidFill>
              </a:defRPr>
            </a:pPr>
            <a:r>
              <a:t>• Treats the entire ward as uniform</a:t>
            </a:r>
            <a:br/>
            <a:r>
              <a:t>• Hides severe zero-canopy pockets</a:t>
            </a:r>
            <a:br/>
            <a:r>
              <a:t>• Misallocates municipal planting budget</a:t>
            </a:r>
            <a:br/>
            <a:r>
              <a:t>• Cannot pinpoint exact physical locations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5120640" cy="4206240"/>
          </a:xfrm>
          <a:prstGeom prst="roundRect">
            <a:avLst/>
          </a:prstGeom>
          <a:solidFill>
            <a:srgbClr val="074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3855" y="18288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🛰️ PIXEL-LEVEL VIEW (CanopyAI)</a:t>
            </a:r>
          </a:p>
          <a:p>
            <a:pPr>
              <a:spcBef>
                <a:spcPts val="1400"/>
              </a:spcBef>
              <a:defRPr sz="2200" b="1">
                <a:solidFill>
                  <a:srgbClr val="10B981"/>
                </a:solidFill>
              </a:defRPr>
            </a:pPr>
            <a:r>
              <a:t>Precise Spatial Heterogeneity</a:t>
            </a:r>
          </a:p>
          <a:p>
            <a:pPr>
              <a:spcBef>
                <a:spcPts val="1200"/>
              </a:spcBef>
              <a:defRPr sz="1400">
                <a:solidFill>
                  <a:srgbClr val="DCEBE1"/>
                </a:solidFill>
              </a:defRPr>
            </a:pPr>
            <a:r>
              <a:t>• Identifies 0% canopy sub-zones instantly</a:t>
            </a:r>
            <a:br/>
            <a:r>
              <a:t>• Separates built-up structures from plantable land</a:t>
            </a:r>
            <a:br/>
            <a:r>
              <a:t>• Overlays satellite heat islands (LST) per pixel</a:t>
            </a:r>
            <a:br/>
            <a:r>
              <a:t>• Two spots in the same ward get different treatments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17973"/>
                </a:solidFill>
                <a:latin typeface="Inter"/>
              </a:defRPr>
            </a:pPr>
            <a:r>
              <a:t>"So we change the unit of intelligence."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17973"/>
                </a:solidFill>
                <a:latin typeface="Inter"/>
              </a:defRPr>
            </a:pPr>
            <a: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FROM WARD-LEVEL REPORTING TO PIXEL-LEVEL INTELLIGENCE</a:t>
            </a:r>
          </a:p>
          <a:p>
            <a:pPr>
              <a:spcBef>
                <a:spcPts val="400"/>
              </a:spcBef>
              <a:defRPr sz="1400">
                <a:solidFill>
                  <a:srgbClr val="B4D2C3"/>
                </a:solidFill>
                <a:latin typeface="Inter"/>
              </a:defRPr>
            </a:pPr>
            <a:r>
              <a:t>Separating analytical precision from administrative execution.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3291840"/>
          </a:xfrm>
          <a:prstGeom prst="roundRect">
            <a:avLst/>
          </a:prstGeom>
          <a:solidFill>
            <a:srgbClr val="07472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PIXEL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ANALYTICAL UNIT</a:t>
            </a:r>
          </a:p>
          <a:p>
            <a:pPr>
              <a:spcBef>
                <a:spcPts val="1200"/>
              </a:spcBef>
              <a:defRPr sz="1400">
                <a:solidFill>
                  <a:srgbClr val="C8DCE6"/>
                </a:solidFill>
              </a:defRPr>
            </a:pPr>
            <a:r>
              <a:t>13-Band Sentinel Multispectral Pixel</a:t>
            </a:r>
            <a:br/>
            <a:r>
              <a:t>Calculates canopy, heat, and plantability at maximum spatial resolution.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5120640" cy="329184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3855" y="182880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WARD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ADMINISTRATIVE UNIT</a:t>
            </a:r>
          </a:p>
          <a:p>
            <a:pPr>
              <a:spcBef>
                <a:spcPts val="1200"/>
              </a:spcBef>
              <a:defRPr sz="1400">
                <a:solidFill>
                  <a:srgbClr val="C8E6D7"/>
                </a:solidFill>
              </a:defRPr>
            </a:pPr>
            <a:r>
              <a:t>250 MCD Municipal Boundaries</a:t>
            </a:r>
            <a:br/>
            <a:r>
              <a:t>Aggregates pixel intelligence into actionable budget, tree count, and governance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728655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2D1C"/>
                </a:solidFill>
              </a:defRPr>
            </a:pPr>
            <a:r>
              <a:t>"WE DON'T START WITH THE WARD. WE START WITH THE PIXEL."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A0C8B4"/>
                </a:solidFill>
                <a:latin typeface="Inter"/>
              </a:defRPr>
            </a:pPr>
            <a:r>
              <a:t>"But a pixel alone is not a decision. We need AI to understand what that pixel represents."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CB4A0"/>
                </a:solidFill>
                <a:latin typeface="Inter"/>
              </a:defRPr>
            </a:pPr>
            <a: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1C1C"/>
                </a:solidFill>
                <a:latin typeface="Inter"/>
              </a:defRPr>
            </a:pPr>
            <a:r>
              <a:t>FROM SATELLITE OBSERVATION TO PLANTING DECISION</a:t>
            </a:r>
          </a:p>
          <a:p>
            <a:pPr>
              <a:spcBef>
                <a:spcPts val="400"/>
              </a:spcBef>
              <a:defRPr sz="1400">
                <a:solidFill>
                  <a:srgbClr val="717973"/>
                </a:solidFill>
                <a:latin typeface="Inter"/>
              </a:defRPr>
            </a:pPr>
            <a:r>
              <a:t>End-to-end 6-stage operational pipeline.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D1C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600" b="1">
                <a:solidFill>
                  <a:srgbClr val="1B1C1C"/>
                </a:solidFill>
              </a:defRPr>
            </a:pPr>
            <a:r>
              <a:t>Satellite Input</a:t>
            </a:r>
          </a:p>
          <a:p>
            <a:pPr>
              <a:spcBef>
                <a:spcPts val="400"/>
              </a:spcBef>
              <a:defRPr sz="1200">
                <a:solidFill>
                  <a:srgbClr val="717973"/>
                </a:solidFill>
              </a:defRPr>
            </a:pPr>
            <a:r>
              <a:t>13-band Sentinel GeoTIFF raster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D1C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600" b="1">
                <a:solidFill>
                  <a:srgbClr val="1B1C1C"/>
                </a:solidFill>
              </a:defRPr>
            </a:pPr>
            <a:r>
              <a:t>Tiling</a:t>
            </a:r>
          </a:p>
          <a:p>
            <a:pPr>
              <a:spcBef>
                <a:spcPts val="400"/>
              </a:spcBef>
              <a:defRPr sz="1200">
                <a:solidFill>
                  <a:srgbClr val="717973"/>
                </a:solidFill>
              </a:defRPr>
            </a:pPr>
            <a:r>
              <a:t>256×256 patch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D1C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600" b="1">
                <a:solidFill>
                  <a:srgbClr val="1B1C1C"/>
                </a:solidFill>
              </a:defRPr>
            </a:pPr>
            <a:r>
              <a:t>AI Engine</a:t>
            </a:r>
          </a:p>
          <a:p>
            <a:pPr>
              <a:spcBef>
                <a:spcPts val="400"/>
              </a:spcBef>
              <a:defRPr sz="1200">
                <a:solidFill>
                  <a:srgbClr val="717973"/>
                </a:solidFill>
              </a:defRPr>
            </a:pPr>
            <a:r>
              <a:t>13-channel SegFormer segmentation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D1C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600" b="1">
                <a:solidFill>
                  <a:srgbClr val="1B1C1C"/>
                </a:solidFill>
              </a:defRPr>
            </a:pPr>
            <a:r>
              <a:t>Reconstruction</a:t>
            </a:r>
          </a:p>
          <a:p>
            <a:pPr>
              <a:spcBef>
                <a:spcPts val="400"/>
              </a:spcBef>
              <a:defRPr sz="1200">
                <a:solidFill>
                  <a:srgbClr val="717973"/>
                </a:solidFill>
              </a:defRPr>
            </a:pPr>
            <a:r>
              <a:t>Probability-aware tile stitching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84048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977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D1C"/>
                </a:solidFill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600" b="1">
                <a:solidFill>
                  <a:srgbClr val="1B1C1C"/>
                </a:solidFill>
              </a:defRPr>
            </a:pPr>
            <a:r>
              <a:t>Impact Engine</a:t>
            </a:r>
          </a:p>
          <a:p>
            <a:pPr>
              <a:spcBef>
                <a:spcPts val="400"/>
              </a:spcBef>
              <a:defRPr sz="1200">
                <a:solidFill>
                  <a:srgbClr val="717973"/>
                </a:solidFill>
              </a:defRPr>
            </a:pPr>
            <a:r>
              <a:t>Canopy + Heat + Plantability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84048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977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D1C"/>
                </a:solidFill>
              </a:defRPr>
            </a:pPr>
            <a:r>
              <a:t>06</a:t>
            </a:r>
          </a:p>
          <a:p>
            <a:pPr>
              <a:spcBef>
                <a:spcPts val="400"/>
              </a:spcBef>
              <a:defRPr sz="1600" b="1">
                <a:solidFill>
                  <a:srgbClr val="1B1C1C"/>
                </a:solidFill>
              </a:defRPr>
            </a:pPr>
            <a:r>
              <a:t>Decision Layer</a:t>
            </a:r>
          </a:p>
          <a:p>
            <a:pPr>
              <a:spcBef>
                <a:spcPts val="400"/>
              </a:spcBef>
              <a:defRPr sz="1200">
                <a:solidFill>
                  <a:srgbClr val="717973"/>
                </a:solidFill>
              </a:defRPr>
            </a:pPr>
            <a:r>
              <a:t>Priority zones &amp; ward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17973"/>
                </a:solidFill>
                <a:latin typeface="Inter"/>
              </a:defRPr>
            </a:pPr>
            <a:r>
              <a:t>"At the center of this pipeline is the model that converts spectral information into land-cover intelligence."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17973"/>
                </a:solidFill>
                <a:latin typeface="Inter"/>
              </a:defRPr>
            </a:pPr>
            <a: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1C1C"/>
                </a:solidFill>
                <a:latin typeface="Inter"/>
              </a:defRPr>
            </a:pPr>
            <a:r>
              <a:t>ONE PIPELINE. FOUR INTELLIGENCE LAYERS.</a:t>
            </a:r>
          </a:p>
          <a:p>
            <a:pPr>
              <a:spcBef>
                <a:spcPts val="400"/>
              </a:spcBef>
              <a:defRPr sz="1400">
                <a:solidFill>
                  <a:srgbClr val="717973"/>
                </a:solidFill>
                <a:latin typeface="Inter"/>
              </a:defRPr>
            </a:pPr>
            <a:r>
              <a:t>Full technical software &amp; data stack.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82880" cy="9601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DATA LAYER</a:t>
            </a:r>
          </a:p>
          <a:p>
            <a:pPr>
              <a:spcBef>
                <a:spcPts val="400"/>
              </a:spcBef>
              <a:defRPr sz="1300">
                <a:solidFill>
                  <a:srgbClr val="1B1C1C"/>
                </a:solidFill>
              </a:defRPr>
            </a:pPr>
            <a:r>
              <a:t>Sentinel-2 13-Band Rasters · MCD 250 Ward GeoJSON · LST Heat Layers · NDVI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82880" cy="960120"/>
          </a:xfrm>
          <a:prstGeom prst="roundRect">
            <a:avLst/>
          </a:prstGeom>
          <a:solidFill>
            <a:srgbClr val="074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7472E"/>
                </a:solidFill>
              </a:defRPr>
            </a:pPr>
            <a:r>
              <a:t>AI SEGMENTATION LAYER</a:t>
            </a:r>
          </a:p>
          <a:p>
            <a:pPr>
              <a:spcBef>
                <a:spcPts val="400"/>
              </a:spcBef>
              <a:defRPr sz="1300">
                <a:solidFill>
                  <a:srgbClr val="1B1C1C"/>
                </a:solidFill>
              </a:defRPr>
            </a:pPr>
            <a:r>
              <a:t>PyTorch SegFormer (MiT-B0) · 13-Channel Adapter · Tiled Inference · Probability Stitcher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82880" cy="960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GEOSPATIAL ANALYTICS</a:t>
            </a:r>
          </a:p>
          <a:p>
            <a:pPr>
              <a:spcBef>
                <a:spcPts val="400"/>
              </a:spcBef>
              <a:defRPr sz="1300">
                <a:solidFill>
                  <a:srgbClr val="1B1C1C"/>
                </a:solidFill>
              </a:defRPr>
            </a:pPr>
            <a:r>
              <a:t>Rasterio · GeoPandas · Zonal Statistics · Plantability Index · Impact Score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59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937759"/>
            <a:ext cx="182880" cy="960120"/>
          </a:xfrm>
          <a:prstGeom prst="roundRect">
            <a:avLst/>
          </a:prstGeom>
          <a:solidFill>
            <a:srgbClr val="002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74919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1C"/>
                </a:solidFill>
              </a:defRPr>
            </a:pPr>
            <a:r>
              <a:t>DECISION &amp; APP LAYER</a:t>
            </a:r>
          </a:p>
          <a:p>
            <a:pPr>
              <a:spcBef>
                <a:spcPts val="400"/>
              </a:spcBef>
              <a:defRPr sz="1300">
                <a:solidFill>
                  <a:srgbClr val="1B1C1C"/>
                </a:solidFill>
              </a:defRPr>
            </a:pPr>
            <a:r>
              <a:t>FastAPI REST API · React 19 + Vite 8 · Leaflet GIS Viewer · Recharts · PDF Exporter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17973"/>
                </a:solidFill>
                <a:latin typeface="Inter"/>
              </a:defRPr>
            </a:pPr>
            <a:r>
              <a:t>"The architecture becomes powerful because the model does not stop at classification."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17973"/>
                </a:solidFill>
                <a:latin typeface="Inter"/>
              </a:defRPr>
            </a:pPr>
            <a: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1C1C"/>
                </a:solidFill>
                <a:latin typeface="Inter"/>
              </a:defRPr>
            </a:pPr>
            <a:r>
              <a:t>THE AI SEES 13 BANDS — NOT JUST RGB</a:t>
            </a:r>
          </a:p>
          <a:p>
            <a:pPr>
              <a:spcBef>
                <a:spcPts val="400"/>
              </a:spcBef>
              <a:defRPr sz="1400">
                <a:solidFill>
                  <a:srgbClr val="717973"/>
                </a:solidFill>
                <a:latin typeface="Inter"/>
              </a:defRPr>
            </a:pPr>
            <a:r>
              <a:t>Multispectral deep semantic segmentation with SegFormer MiT-B0.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17973"/>
                </a:solidFill>
              </a:defRPr>
            </a:pPr>
            <a:r>
              <a:t>📷 Standard RGB (3 Channels)</a:t>
            </a:r>
          </a:p>
          <a:p>
            <a:pPr>
              <a:spcBef>
                <a:spcPts val="400"/>
              </a:spcBef>
              <a:defRPr sz="1300">
                <a:solidFill>
                  <a:srgbClr val="717973"/>
                </a:solidFill>
              </a:defRPr>
            </a:pPr>
            <a:r>
              <a:t>Red, Green, Blue visible spectrum only. Fails to distinguish artificial turf from live tree canopy.</a:t>
            </a:r>
          </a:p>
          <a:p>
            <a:pPr>
              <a:spcBef>
                <a:spcPts val="1600"/>
              </a:spcBef>
              <a:defRPr sz="1800" b="1">
                <a:solidFill>
                  <a:srgbClr val="002D1C"/>
                </a:solidFill>
              </a:defRPr>
            </a:pPr>
            <a:r>
              <a:t>🛰️ CanopyAI Sentinel-2 (13 Channels)</a:t>
            </a:r>
          </a:p>
          <a:p>
            <a:pPr>
              <a:spcBef>
                <a:spcPts val="400"/>
              </a:spcBef>
              <a:defRPr sz="1300">
                <a:solidFill>
                  <a:srgbClr val="1B1C1C"/>
                </a:solidFill>
              </a:defRPr>
            </a:pPr>
            <a:r>
              <a:t>Visible (B2,B3,B4) + Red Edge (B5,B6,B7) + NIR (B8,B8A) + SWIR (B11,B12) + Coastal/Vapour (B1,B9,B10).</a:t>
            </a:r>
            <a:br/>
            <a:r>
              <a:t>Deep spectral signature extraction for high accuracy.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5120640" cy="4206240"/>
          </a:xfrm>
          <a:prstGeom prst="roundRect">
            <a:avLst/>
          </a:prstGeom>
          <a:solidFill>
            <a:srgbClr val="074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3855" y="18288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🏷️ 4 SEMANTIC TARGET CLASSES</a:t>
            </a:r>
          </a:p>
          <a:p>
            <a:pPr>
              <a:spcBef>
                <a:spcPts val="1000"/>
              </a:spcBef>
              <a:defRPr sz="1500" b="1">
                <a:solidFill>
                  <a:srgbClr val="10B981"/>
                </a:solidFill>
              </a:defRPr>
            </a:pPr>
            <a:r>
              <a:t>• 0 — Bare / Open Land</a:t>
            </a:r>
          </a:p>
          <a:p>
            <a:pPr>
              <a:defRPr sz="1200">
                <a:solidFill>
                  <a:srgbClr val="D2E6DC"/>
                </a:solidFill>
              </a:defRPr>
            </a:pPr>
            <a:r>
              <a:t>   53.26% coverage · IoU 0.815</a:t>
            </a:r>
          </a:p>
          <a:p>
            <a:pPr>
              <a:spcBef>
                <a:spcPts val="1000"/>
              </a:spcBef>
              <a:defRPr sz="1500" b="1">
                <a:solidFill>
                  <a:srgbClr val="10B981"/>
                </a:solidFill>
              </a:defRPr>
            </a:pPr>
            <a:r>
              <a:t>• 1 — Tree Canopy</a:t>
            </a:r>
          </a:p>
          <a:p>
            <a:pPr>
              <a:defRPr sz="1200">
                <a:solidFill>
                  <a:srgbClr val="D2E6DC"/>
                </a:solidFill>
              </a:defRPr>
            </a:pPr>
            <a:r>
              <a:t>   8.77% coverage · IoU 0.626</a:t>
            </a:r>
          </a:p>
          <a:p>
            <a:pPr>
              <a:spcBef>
                <a:spcPts val="1000"/>
              </a:spcBef>
              <a:defRPr sz="1500" b="1">
                <a:solidFill>
                  <a:srgbClr val="10B981"/>
                </a:solidFill>
              </a:defRPr>
            </a:pPr>
            <a:r>
              <a:t>• 2 — Built-up Surface</a:t>
            </a:r>
          </a:p>
          <a:p>
            <a:pPr>
              <a:defRPr sz="1200">
                <a:solidFill>
                  <a:srgbClr val="D2E6DC"/>
                </a:solidFill>
              </a:defRPr>
            </a:pPr>
            <a:r>
              <a:t>   21.21% coverage · IoU 0.841</a:t>
            </a:r>
          </a:p>
          <a:p>
            <a:pPr>
              <a:spcBef>
                <a:spcPts val="1000"/>
              </a:spcBef>
              <a:defRPr sz="1500" b="1">
                <a:solidFill>
                  <a:srgbClr val="10B981"/>
                </a:solidFill>
              </a:defRPr>
            </a:pPr>
            <a:r>
              <a:t>• 3 — Cropland / Veg</a:t>
            </a:r>
          </a:p>
          <a:p>
            <a:pPr>
              <a:defRPr sz="1200">
                <a:solidFill>
                  <a:srgbClr val="D2E6DC"/>
                </a:solidFill>
              </a:defRPr>
            </a:pPr>
            <a:r>
              <a:t>   16.76% coverage · IoU 0.827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17973"/>
                </a:solidFill>
                <a:latin typeface="Inter"/>
              </a:defRPr>
            </a:pPr>
            <a:r>
              <a:t>"Once every pixel has a semantic meaning, we can ask: which pixels deserve intervention?"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17973"/>
                </a:solidFill>
                <a:latin typeface="Inter"/>
              </a:defRPr>
            </a:pPr>
            <a: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1C1C"/>
                </a:solidFill>
                <a:latin typeface="Inter"/>
              </a:defRPr>
            </a:pPr>
            <a:r>
              <a:t>EVERY PIXEL GETS A PRIORITY</a:t>
            </a:r>
          </a:p>
          <a:p>
            <a:pPr>
              <a:spcBef>
                <a:spcPts val="400"/>
              </a:spcBef>
              <a:defRPr sz="1400">
                <a:solidFill>
                  <a:srgbClr val="717973"/>
                </a:solidFill>
                <a:latin typeface="Inter"/>
              </a:defRPr>
            </a:pPr>
            <a:r>
              <a:t>Multi-factor spatial scoring formula (TPIS).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188720"/>
          </a:xfrm>
          <a:prstGeom prst="roundRect">
            <a:avLst/>
          </a:prstGeom>
          <a:solidFill>
            <a:srgbClr val="002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S(x,y) = w_C · Deficit + w_H · Heat + w_V · NDVI Deficit + w_U · Vulnerability + w_W · Water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25146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A1A1A"/>
                </a:solidFill>
              </a:defRPr>
            </a:pPr>
            <a:r>
              <a:t>30% Low Canopy</a:t>
            </a:r>
          </a:p>
          <a:p>
            <a:pPr>
              <a:spcBef>
                <a:spcPts val="800"/>
              </a:spcBef>
              <a:defRPr sz="1400" b="1">
                <a:solidFill>
                  <a:srgbClr val="1B1C1C"/>
                </a:solidFill>
              </a:defRPr>
            </a:pPr>
            <a:r>
              <a:t>Canopy Deficit Index</a:t>
            </a:r>
          </a:p>
          <a:p>
            <a:pPr>
              <a:spcBef>
                <a:spcPts val="600"/>
              </a:spcBef>
              <a:defRPr sz="1200">
                <a:solidFill>
                  <a:srgbClr val="717973"/>
                </a:solidFill>
              </a:defRPr>
            </a:pPr>
            <a:r>
              <a:t>Where tree cover is missing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3017520"/>
            <a:ext cx="25146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315468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48C24"/>
                </a:solidFill>
              </a:defRPr>
            </a:pPr>
            <a:r>
              <a:t>25% High Temp</a:t>
            </a:r>
          </a:p>
          <a:p>
            <a:pPr>
              <a:spcBef>
                <a:spcPts val="800"/>
              </a:spcBef>
              <a:defRPr sz="1400" b="1">
                <a:solidFill>
                  <a:srgbClr val="1B1C1C"/>
                </a:solidFill>
              </a:defRPr>
            </a:pPr>
            <a:r>
              <a:t>LST Heat Island</a:t>
            </a:r>
          </a:p>
          <a:p>
            <a:pPr>
              <a:spcBef>
                <a:spcPts val="600"/>
              </a:spcBef>
              <a:defRPr sz="1200">
                <a:solidFill>
                  <a:srgbClr val="717973"/>
                </a:solidFill>
              </a:defRPr>
            </a:pPr>
            <a:r>
              <a:t>Land surface heat stress (°C)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017520"/>
            <a:ext cx="25146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315468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AB552"/>
                </a:solidFill>
              </a:defRPr>
            </a:pPr>
            <a:r>
              <a:t>20% Veg Deficit</a:t>
            </a:r>
          </a:p>
          <a:p>
            <a:pPr>
              <a:spcBef>
                <a:spcPts val="800"/>
              </a:spcBef>
              <a:defRPr sz="1400" b="1">
                <a:solidFill>
                  <a:srgbClr val="1B1C1C"/>
                </a:solidFill>
              </a:defRPr>
            </a:pPr>
            <a:r>
              <a:t>NDVI Health Gap</a:t>
            </a:r>
          </a:p>
          <a:p>
            <a:pPr>
              <a:spcBef>
                <a:spcPts val="600"/>
              </a:spcBef>
              <a:defRPr sz="1200">
                <a:solidFill>
                  <a:srgbClr val="717973"/>
                </a:solidFill>
              </a:defRPr>
            </a:pPr>
            <a:r>
              <a:t>Vegetation health index deficit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017520"/>
            <a:ext cx="25146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315468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FA38F"/>
                </a:solidFill>
              </a:defRPr>
            </a:pPr>
            <a:r>
              <a:t>25% Vulnerability &amp; Water</a:t>
            </a:r>
          </a:p>
          <a:p>
            <a:pPr>
              <a:spcBef>
                <a:spcPts val="800"/>
              </a:spcBef>
              <a:defRPr sz="1400" b="1">
                <a:solidFill>
                  <a:srgbClr val="1B1C1C"/>
                </a:solidFill>
              </a:defRPr>
            </a:pPr>
            <a:r>
              <a:t>UVS + Water Feasibility</a:t>
            </a:r>
          </a:p>
          <a:p>
            <a:pPr>
              <a:spcBef>
                <a:spcPts val="600"/>
              </a:spcBef>
              <a:defRPr sz="1200">
                <a:solidFill>
                  <a:srgbClr val="717973"/>
                </a:solidFill>
              </a:defRPr>
            </a:pPr>
            <a:r>
              <a:t>Population, slum density &amp; water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17973"/>
                </a:solidFill>
                <a:latin typeface="Inter"/>
              </a:defRPr>
            </a:pPr>
            <a:r>
              <a:t>"High-scoring pixels are useful individually — but planting happens in places, not isolated pixels."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17973"/>
                </a:solidFill>
                <a:latin typeface="Inter"/>
              </a:defRPr>
            </a:pPr>
            <a: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1C1C"/>
                </a:solidFill>
                <a:latin typeface="Inter"/>
              </a:defRPr>
            </a:pPr>
            <a:r>
              <a:t>WE DON'T PLANT PIXELS. WE USE PIXELS TO FIND WHERE TO PLANT.</a:t>
            </a:r>
          </a:p>
          <a:p>
            <a:pPr>
              <a:spcBef>
                <a:spcPts val="400"/>
              </a:spcBef>
              <a:defRPr sz="1400">
                <a:solidFill>
                  <a:srgbClr val="717973"/>
                </a:solidFill>
                <a:latin typeface="Inter"/>
              </a:defRPr>
            </a:pPr>
            <a:r>
              <a:t>Spatial transformation from raw data to civic implementation.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14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17973"/>
                </a:solidFill>
              </a:defRPr>
            </a:pPr>
            <a:r>
              <a:t>STEP 1</a:t>
            </a:r>
          </a:p>
          <a:p>
            <a:pPr>
              <a:spcBef>
                <a:spcPts val="800"/>
              </a:spcBef>
              <a:defRPr sz="1800" b="1">
                <a:solidFill>
                  <a:srgbClr val="1B1C1C"/>
                </a:solidFill>
              </a:defRPr>
            </a:pPr>
            <a:r>
              <a:t>Raw Raster Pixels</a:t>
            </a:r>
          </a:p>
          <a:p>
            <a:pPr>
              <a:spcBef>
                <a:spcPts val="1200"/>
              </a:spcBef>
              <a:defRPr sz="1300">
                <a:solidFill>
                  <a:srgbClr val="717973"/>
                </a:solidFill>
              </a:defRPr>
            </a:pPr>
            <a:r>
              <a:t>Continuous pixel-level scoring across Sentinel-2 grid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14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17973"/>
                </a:solidFill>
              </a:defRPr>
            </a:pPr>
            <a:r>
              <a:t>STEP 2</a:t>
            </a:r>
          </a:p>
          <a:p>
            <a:pPr>
              <a:spcBef>
                <a:spcPts val="800"/>
              </a:spcBef>
              <a:defRPr sz="1800" b="1">
                <a:solidFill>
                  <a:srgbClr val="1B1C1C"/>
                </a:solidFill>
              </a:defRPr>
            </a:pPr>
            <a:r>
              <a:t>High-Priority Pixels</a:t>
            </a:r>
          </a:p>
          <a:p>
            <a:pPr>
              <a:spcBef>
                <a:spcPts val="1200"/>
              </a:spcBef>
              <a:defRPr sz="1300">
                <a:solidFill>
                  <a:srgbClr val="717973"/>
                </a:solidFill>
              </a:defRPr>
            </a:pPr>
            <a:r>
              <a:t>Thresholding pixels with Composite Score &gt; 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14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17973"/>
                </a:solidFill>
              </a:defRPr>
            </a:pPr>
            <a:r>
              <a:t>STEP 3</a:t>
            </a:r>
          </a:p>
          <a:p>
            <a:pPr>
              <a:spcBef>
                <a:spcPts val="800"/>
              </a:spcBef>
              <a:defRPr sz="1800" b="1">
                <a:solidFill>
                  <a:srgbClr val="1B1C1C"/>
                </a:solidFill>
              </a:defRPr>
            </a:pPr>
            <a:r>
              <a:t>Spatial Clusters</a:t>
            </a:r>
          </a:p>
          <a:p>
            <a:pPr>
              <a:spcBef>
                <a:spcPts val="1200"/>
              </a:spcBef>
              <a:defRPr sz="1300">
                <a:solidFill>
                  <a:srgbClr val="717973"/>
                </a:solidFill>
              </a:defRPr>
            </a:pPr>
            <a:r>
              <a:t>DBSCAN / Morphological clustering into contiguous zones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14600" cy="4206240"/>
          </a:xfrm>
          <a:prstGeom prst="roundRect">
            <a:avLst/>
          </a:prstGeom>
          <a:solidFill>
            <a:srgbClr val="07472E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82880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STEP 4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Ward Aggregation</a:t>
            </a:r>
          </a:p>
          <a:p>
            <a:pPr>
              <a:spcBef>
                <a:spcPts val="1200"/>
              </a:spcBef>
              <a:defRPr sz="1300">
                <a:solidFill>
                  <a:srgbClr val="D2E6DC"/>
                </a:solidFill>
              </a:defRPr>
            </a:pPr>
            <a:r>
              <a:t>Zonal statistics rollup for MCD Ward 78 (Bazar Sita Ram)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17973"/>
                </a:solidFill>
                <a:latin typeface="Inter"/>
              </a:defRPr>
            </a:pPr>
            <a:r>
              <a:t>"Now the intelligence can move from the model into a decision-maker's hands."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17973"/>
                </a:solidFill>
                <a:latin typeface="Inter"/>
              </a:defRPr>
            </a:pPr>
            <a: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1C1C"/>
                </a:solidFill>
                <a:latin typeface="Inter"/>
              </a:defRPr>
            </a:pPr>
            <a:r>
              <a:t>FROM MODEL OUTPUT TO DECISION</a:t>
            </a:r>
          </a:p>
          <a:p>
            <a:pPr>
              <a:spcBef>
                <a:spcPts val="400"/>
              </a:spcBef>
              <a:defRPr sz="1400">
                <a:solidFill>
                  <a:srgbClr val="717973"/>
                </a:solidFill>
                <a:latin typeface="Inter"/>
              </a:defRPr>
            </a:pPr>
            <a:r>
              <a:t>Production React 19 + Leaflet GIS Dashboard Interface.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7132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2D1C"/>
                </a:solidFill>
              </a:defRPr>
            </a:pPr>
            <a:r>
              <a:t>🗺️ INTERACTIVE MAP VIEWER (Leaflet)</a:t>
            </a:r>
          </a:p>
          <a:p>
            <a:pPr>
              <a:spcBef>
                <a:spcPts val="1200"/>
              </a:spcBef>
              <a:defRPr sz="1400">
                <a:solidFill>
                  <a:srgbClr val="1B1C1C"/>
                </a:solidFill>
              </a:defRPr>
            </a:pPr>
            <a:r>
              <a:t>• 250 Ward Boundary GeoJSON Chloropleth Layer</a:t>
            </a:r>
            <a:br/>
            <a:r>
              <a:t>• AI Canopy Prediction Mask Overlay (GeoTIFF)</a:t>
            </a:r>
            <a:br/>
            <a:r>
              <a:t>• Urban Heat Island (LST) Surface Overlay</a:t>
            </a:r>
            <a:br/>
            <a:r>
              <a:t>• Ward Click Inspector: Shows pop, slum density, water tier &amp; target trees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413455" cy="4206240"/>
          </a:xfrm>
          <a:prstGeom prst="roundRect">
            <a:avLst/>
          </a:prstGeom>
          <a:solidFill>
            <a:srgbClr val="074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0476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🏆 TOP PRIORITY WARD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</a:defRPr>
            </a:pPr>
            <a:r>
              <a:t>BAZAR SITA RAM</a:t>
            </a:r>
          </a:p>
          <a:p>
            <a:pPr>
              <a:spcBef>
                <a:spcPts val="1200"/>
              </a:spcBef>
              <a:defRPr sz="1300">
                <a:solidFill>
                  <a:srgbClr val="D2E6DC"/>
                </a:solidFill>
              </a:defRPr>
            </a:pPr>
            <a:r>
              <a:t>• Impact Score: 88.52 / 100</a:t>
            </a:r>
            <a:br/>
            <a:r>
              <a:t>• Trees Suggested: 14,018</a:t>
            </a:r>
            <a:br/>
            <a:r>
              <a:t>• Budget Required: ₹33.64 Lakhs</a:t>
            </a:r>
            <a:br/>
            <a:r>
              <a:t>• Cooling Benefit: -1.40 °C</a:t>
            </a:r>
            <a:br/>
            <a:r>
              <a:t>• CO₂ Absorption: 350 Tons/yr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17973"/>
                </a:solidFill>
                <a:latin typeface="Inter"/>
              </a:defRPr>
            </a:pPr>
            <a:r>
              <a:t>"A strong model is useful only when its output becomes understandable, explainable, and actionable."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17973"/>
                </a:solidFill>
                <a:latin typeface="Inter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1C1C"/>
                </a:solidFill>
                <a:latin typeface="Inter"/>
              </a:defRPr>
            </a:pPr>
            <a:r>
              <a:t>HOW DO WE KNOW THE MODEL WORKS?</a:t>
            </a:r>
          </a:p>
          <a:p>
            <a:pPr>
              <a:spcBef>
                <a:spcPts val="400"/>
              </a:spcBef>
              <a:defRPr sz="1400">
                <a:solidFill>
                  <a:srgbClr val="717973"/>
                </a:solidFill>
                <a:latin typeface="Inter"/>
              </a:defRPr>
            </a:pPr>
            <a:r>
              <a:t>Rigorous empirical performance evaluation on held-out test dataset.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14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88.71%</a:t>
            </a:r>
          </a:p>
          <a:p>
            <a:pPr>
              <a:spcBef>
                <a:spcPts val="400"/>
              </a:spcBef>
              <a:defRPr sz="1400" b="1">
                <a:solidFill>
                  <a:srgbClr val="1B1C1C"/>
                </a:solidFill>
              </a:defRPr>
            </a:pPr>
            <a:r>
              <a:t>Pixel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14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7472E"/>
                </a:solidFill>
              </a:defRPr>
            </a:pPr>
            <a:r>
              <a:t>0.8717</a:t>
            </a:r>
          </a:p>
          <a:p>
            <a:pPr>
              <a:spcBef>
                <a:spcPts val="400"/>
              </a:spcBef>
              <a:defRPr sz="1400" b="1">
                <a:solidFill>
                  <a:srgbClr val="1B1C1C"/>
                </a:solidFill>
              </a:defRPr>
            </a:pPr>
            <a:r>
              <a:t>F1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14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D1C"/>
                </a:solidFill>
              </a:defRPr>
            </a:pPr>
            <a:r>
              <a:t>0.7772</a:t>
            </a:r>
          </a:p>
          <a:p>
            <a:pPr>
              <a:spcBef>
                <a:spcPts val="400"/>
              </a:spcBef>
              <a:defRPr sz="1400" b="1">
                <a:solidFill>
                  <a:srgbClr val="1B1C1C"/>
                </a:solidFill>
              </a:defRPr>
            </a:pPr>
            <a:r>
              <a:t>Mean IoU (mIoU)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14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7830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87.33%</a:t>
            </a:r>
          </a:p>
          <a:p>
            <a:pPr>
              <a:spcBef>
                <a:spcPts val="400"/>
              </a:spcBef>
              <a:defRPr sz="1400" b="1">
                <a:solidFill>
                  <a:srgbClr val="1B1C1C"/>
                </a:solidFill>
              </a:defRPr>
            </a:pPr>
            <a:r>
              <a:t>Precision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72865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1C"/>
                </a:solidFill>
              </a:defRPr>
            </a:pPr>
            <a:r>
              <a:t>📊 CLASS-WISE INTERSECTION OVER UNION (IoU)</a:t>
            </a:r>
          </a:p>
          <a:p>
            <a:pPr>
              <a:spcBef>
                <a:spcPts val="800"/>
              </a:spcBef>
              <a:defRPr sz="1400">
                <a:solidFill>
                  <a:srgbClr val="717973"/>
                </a:solidFill>
              </a:defRPr>
            </a:pPr>
            <a:r>
              <a:t>• Built-up Surface IoU: 0.841   |   Cropland / Veg IoU: 0.827   |   Bare / Open Land IoU: 0.815   |   Tree Canopy IoU: 0.626</a:t>
            </a:r>
            <a:br/>
            <a:r>
              <a:t>• Test Set Size: Held-out Sentinel-2 tiles over Delhi Municipal Region</a:t>
            </a:r>
            <a:br/>
            <a:r>
              <a:t>• Device Performance: CUDA accelerated GPU inference (&lt; 42s full-city execution)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17973"/>
                </a:solidFill>
                <a:latin typeface="Inter"/>
              </a:defRPr>
            </a:pPr>
            <a:r>
              <a:t>"Model accuracy validates the AI layer. Business viability determines whether the intelligence can reach the city."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17973"/>
                </a:solidFill>
                <a:latin typeface="Inter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1C1C"/>
                </a:solidFill>
                <a:latin typeface="Inter"/>
              </a:defRPr>
            </a:pPr>
            <a:r>
              <a:t>WE SELL BETTER PLANTING DECISIONS — NOT JUST A MAP</a:t>
            </a:r>
          </a:p>
          <a:p>
            <a:pPr>
              <a:spcBef>
                <a:spcPts val="400"/>
              </a:spcBef>
              <a:defRPr sz="1400">
                <a:solidFill>
                  <a:srgbClr val="717973"/>
                </a:solidFill>
                <a:latin typeface="Inter"/>
              </a:defRPr>
            </a:pPr>
            <a:r>
              <a:t>Commercial B2G SaaS &amp; ClimateTech revenue architecture.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82880" cy="1280160"/>
          </a:xfrm>
          <a:prstGeom prst="roundRect">
            <a:avLst/>
          </a:prstGeom>
          <a:solidFill>
            <a:srgbClr val="074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7472E"/>
                </a:solidFill>
              </a:defRPr>
            </a:pPr>
            <a:r>
              <a:t>LAYER 1 — CORE (B2G SaaS)</a:t>
            </a:r>
          </a:p>
          <a:p>
            <a:pPr>
              <a:spcBef>
                <a:spcPts val="400"/>
              </a:spcBef>
              <a:defRPr sz="1300">
                <a:solidFill>
                  <a:srgbClr val="1B1C1C"/>
                </a:solidFill>
              </a:defRPr>
            </a:pPr>
            <a:r>
              <a:t>Municipal Corporations, Smart City SPVs, Urban Local Bodies</a:t>
            </a:r>
            <a:br/>
            <a:r>
              <a:t>Product: AI Dashboard, Priority Zones, Ward Reports, Satellite Updates</a:t>
            </a:r>
            <a:br/>
            <a:r>
              <a:t>Revenue: Annual Subscription (₹8L – ₹75L / city / year)</a:t>
            </a:r>
            <a:br/>
            <a:r>
              <a:t>[Indicative / pilot-dependent]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82880" cy="128016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332"/>
                </a:solidFill>
              </a:defRPr>
            </a:pPr>
            <a:r>
              <a:t>LAYER 2 — CONSULTING &amp; ANALYTICS</a:t>
            </a:r>
          </a:p>
          <a:p>
            <a:pPr>
              <a:spcBef>
                <a:spcPts val="400"/>
              </a:spcBef>
              <a:defRPr sz="1300">
                <a:solidFill>
                  <a:srgbClr val="1B1C1C"/>
                </a:solidFill>
              </a:defRPr>
            </a:pPr>
            <a:r>
              <a:t>State Urban Development Departments, Infra Developers, CSR Funds</a:t>
            </a:r>
            <a:br/>
            <a:r>
              <a:t>Product: Custom City Assessments, Green Compliance Reports, Heat Risk Audits</a:t>
            </a:r>
            <a:br/>
            <a:r>
              <a:t>Revenue: Project-based (₹5L – ₹50L / project)</a:t>
            </a:r>
            <a:br/>
            <a:r>
              <a:t>[Illustrative]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82880" cy="1280160"/>
          </a:xfrm>
          <a:prstGeom prst="roundRect">
            <a:avLst/>
          </a:prstGeom>
          <a:solidFill>
            <a:srgbClr val="002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1C"/>
                </a:solidFill>
              </a:defRPr>
            </a:pPr>
            <a:r>
              <a:t>LAYER 3 — FUTURE (CARBON MRV)</a:t>
            </a:r>
          </a:p>
          <a:p>
            <a:pPr>
              <a:spcBef>
                <a:spcPts val="400"/>
              </a:spcBef>
              <a:defRPr sz="1300">
                <a:solidFill>
                  <a:srgbClr val="1B1C1C"/>
                </a:solidFill>
              </a:defRPr>
            </a:pPr>
            <a:r>
              <a:t>Carbon Project Developers, Climate Funds</a:t>
            </a:r>
            <a:br/>
            <a:r>
              <a:t>Product: Remote-sensing Plantation MRV (Monitoring, Reporting &amp; Verification)</a:t>
            </a:r>
            <a:br/>
            <a:r>
              <a:t>Revenue: Verification Data Feeds &amp; Impact Certification Partnerships</a:t>
            </a:r>
            <a:br/>
            <a:r>
              <a:t>[Future carbon-MRV opportunity — requires independent verification]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17973"/>
                </a:solidFill>
                <a:latin typeface="Inter"/>
              </a:defRPr>
            </a:pPr>
            <a:r>
              <a:t>"The business starts with a city problem, monetizes through recurring software, and expands as trust grows."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17973"/>
                </a:solidFill>
                <a:latin typeface="Inter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1C1C"/>
                </a:solidFill>
                <a:latin typeface="Inter"/>
              </a:defRPr>
            </a:pPr>
            <a:r>
              <a:t>LAND WITH ONE CITY. EXPAND THROUGH THE SYSTEM.</a:t>
            </a:r>
          </a:p>
          <a:p>
            <a:pPr>
              <a:spcBef>
                <a:spcPts val="400"/>
              </a:spcBef>
              <a:defRPr sz="1400">
                <a:solidFill>
                  <a:srgbClr val="717973"/>
                </a:solidFill>
                <a:latin typeface="Inter"/>
              </a:defRPr>
            </a:pPr>
            <a:r>
              <a:t>4-Phase expansion strategy from Delhi pilot to nationwide rollout.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14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548640"/>
          </a:xfrm>
          <a:prstGeom prst="roundRect">
            <a:avLst/>
          </a:prstGeom>
          <a:solidFill>
            <a:srgbClr val="074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PHASE 1: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2240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B1C1C"/>
                </a:solidFill>
              </a:defRPr>
            </a:pPr>
            <a:r>
              <a:t>Delhi MCD Pilot</a:t>
            </a:r>
            <a:br/>
            <a:r>
              <a:t>Validate SegFormer model &amp; ward recommendations with municipal authorities.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14600" cy="54864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73736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PHASE 2: EXPAND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240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B1C1C"/>
                </a:solidFill>
              </a:defRPr>
            </a:pPr>
            <a:r>
              <a:t>Top Indian Metros</a:t>
            </a:r>
            <a:br/>
            <a:r>
              <a:t>Deploy to Mumbai, Bengaluru, Chennai &amp; Hyderabad urban local bodies.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14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14600" cy="548640"/>
          </a:xfrm>
          <a:prstGeom prst="roundRect">
            <a:avLst/>
          </a:prstGeom>
          <a:solidFill>
            <a:srgbClr val="002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3736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PHASE 3: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77440"/>
            <a:ext cx="2240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B1C1C"/>
                </a:solidFill>
              </a:defRPr>
            </a:pPr>
            <a:r>
              <a:t>State Contracts</a:t>
            </a:r>
            <a:br/>
            <a:r>
              <a:t>State-level Urban Development &amp; Forest Dept procurement via GeM / Tenders.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45920"/>
            <a:ext cx="2514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23960" y="1645920"/>
            <a:ext cx="2514600" cy="5486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73736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PHASE 4: ADJACENT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377440"/>
            <a:ext cx="2240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B1C1C"/>
                </a:solidFill>
              </a:defRPr>
            </a:pPr>
            <a:r>
              <a:t>Enterprise / International</a:t>
            </a:r>
            <a:br/>
            <a:r>
              <a:t>CSR Green Belts, Highway Corridors, Heat Vulnerability &amp; Global Climate Programs.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17973"/>
                </a:solidFill>
                <a:latin typeface="Inter"/>
              </a:defRPr>
            </a:pPr>
            <a:r>
              <a:t>"Once a city uses CanopyAI for one plantation cycle, the next opportunity is the next update, ward, and city."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17973"/>
                </a:solidFill>
                <a:latin typeface="Inter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MORE CITIES WE ANALYZE, THE STRONGER THE SYSTEM BECOMES</a:t>
            </a:r>
          </a:p>
          <a:p>
            <a:pPr>
              <a:spcBef>
                <a:spcPts val="1600"/>
              </a:spcBef>
              <a:defRPr sz="1600">
                <a:solidFill>
                  <a:srgbClr val="10B981"/>
                </a:solidFill>
              </a:defRPr>
            </a:pPr>
            <a:r>
              <a:t>🔄 Defensibility Flywheel: More Cities → More Satellite Data → Refined Regional AI Models → Higher Decision Trust</a:t>
            </a:r>
          </a:p>
          <a:p>
            <a:pPr>
              <a:spcBef>
                <a:spcPts val="3600"/>
              </a:spcBef>
              <a:defRPr sz="2000" b="1">
                <a:solidFill>
                  <a:srgbClr val="0EA5E9"/>
                </a:solidFill>
              </a:defRPr>
            </a:pPr>
            <a:r>
              <a:t>SATELLITE  +  AI  +  GIS  +  PIXEL INTELLIGENCE  =  ACTIONABLE URBAN TREE EQUITY</a:t>
            </a:r>
          </a:p>
          <a:p>
            <a:pPr>
              <a:spcBef>
                <a:spcPts val="3000"/>
              </a:spcBef>
              <a:defRPr sz="2200" b="1" i="1">
                <a:solidFill>
                  <a:srgbClr val="FFFFFF"/>
                </a:solidFill>
              </a:defRPr>
            </a:pPr>
            <a:r>
              <a:t>"Wards tell us WHO governs an area. Pixels tell us WHERE the intervention matters."</a:t>
            </a:r>
          </a:p>
          <a:p>
            <a:pPr>
              <a:spcBef>
                <a:spcPts val="3600"/>
              </a:spcBef>
              <a:defRPr sz="1600" b="1">
                <a:solidFill>
                  <a:srgbClr val="B4D2C3"/>
                </a:solidFill>
              </a:defRPr>
            </a:pPr>
            <a:r>
              <a:t>CANOPYAI  ·  Delhi, India  ·  ASEP Group 4 (VIT Pune)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A0C8B4"/>
                </a:solidFill>
                <a:latin typeface="Inter"/>
              </a:defRPr>
            </a:pPr>
            <a:r>
              <a:t>"CanopyAI turns satellite observations into planting decisions."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CB4A0"/>
                </a:solidFill>
                <a:latin typeface="Inter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